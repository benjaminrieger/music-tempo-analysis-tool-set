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0" r:id="rId3"/>
    <p:sldId id="258" r:id="rId4"/>
    <p:sldId id="257" r:id="rId5"/>
    <p:sldId id="259" r:id="rId6"/>
    <p:sldId id="271" r:id="rId7"/>
    <p:sldId id="272" r:id="rId8"/>
    <p:sldId id="262" r:id="rId9"/>
    <p:sldId id="261" r:id="rId10"/>
    <p:sldId id="265" r:id="rId11"/>
    <p:sldId id="273" r:id="rId12"/>
    <p:sldId id="266" r:id="rId13"/>
    <p:sldId id="267" r:id="rId14"/>
    <p:sldId id="268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050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Pre-emphasis is the single most impactful adaptation for vocal audio. Demo idea: play the same lullaby with and without pre-emphasis and show the onset envelope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octave problem is universal. Even professional MIR tools struggle with it. These three strategies can be combined. In my lullaby work I use all three. For student projects, at minimum use a tempo prior if you know roughly what range to expect.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two most important beat_track parameters. start_bpm is where most people go wrong — they leave it at 120 for everything. tightness controls flexibility vs stability. Show examples: same audio, different start_bpm values, see how the beat sequence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ID">
    <p:bg>
      <p:bgPr>
        <a:solidFill>
          <a:srgbClr val="12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Tempo Analysis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Data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tuning librosa for non-standard audio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 D. Rieger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| CeTI Excellence Cluster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3E75DD-C525-AC4F-4915-8D66754E8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906" y="4063586"/>
            <a:ext cx="2146380" cy="8780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64473F7-CC26-BB34-8138-EA1843538EDF}"/>
              </a:ext>
            </a:extLst>
          </p:cNvPr>
          <p:cNvSpPr/>
          <p:nvPr/>
        </p:nvSpPr>
        <p:spPr>
          <a:xfrm>
            <a:off x="247507" y="447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 dirty="0">
                <a:solidFill>
                  <a:schemeClr val="bg1"/>
                </a:solidFill>
                <a:ea typeface="+mj-ea"/>
                <a:cs typeface="+mj-cs"/>
              </a:rPr>
              <a:t>What is algorithmic tempo analysis?</a:t>
            </a:r>
            <a:endParaRPr lang="en-US" sz="2400" kern="1200" dirty="0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1469C2-3A5B-67A0-FAB4-933E6862B916}"/>
              </a:ext>
            </a:extLst>
          </p:cNvPr>
          <p:cNvSpPr txBox="1"/>
          <p:nvPr/>
        </p:nvSpPr>
        <p:spPr>
          <a:xfrm>
            <a:off x="694638" y="1625846"/>
            <a:ext cx="7859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Using mathematical functions to predict the beat and tempo of a piece of music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25761BB-67F5-7E59-0C17-7FC5B1F1DA04}"/>
              </a:ext>
            </a:extLst>
          </p:cNvPr>
          <p:cNvSpPr/>
          <p:nvPr/>
        </p:nvSpPr>
        <p:spPr>
          <a:xfrm>
            <a:off x="271095" y="1664208"/>
            <a:ext cx="292608" cy="29260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DFEA16F9-791F-874E-EF48-88041FFF2EBC}"/>
              </a:ext>
            </a:extLst>
          </p:cNvPr>
          <p:cNvSpPr/>
          <p:nvPr/>
        </p:nvSpPr>
        <p:spPr>
          <a:xfrm>
            <a:off x="247507" y="2734478"/>
            <a:ext cx="292608" cy="29260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85A975-EFA8-3F73-3C2B-05AF6F32E480}"/>
              </a:ext>
            </a:extLst>
          </p:cNvPr>
          <p:cNvSpPr txBox="1"/>
          <p:nvPr/>
        </p:nvSpPr>
        <p:spPr>
          <a:xfrm>
            <a:off x="694638" y="2571750"/>
            <a:ext cx="7567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Autocorrelation, Beattracking, Dynamic Programming are the most common forms</a:t>
            </a: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21CFFCA9-68AD-F1BD-6EE6-C5F3846A660A}"/>
              </a:ext>
            </a:extLst>
          </p:cNvPr>
          <p:cNvSpPr/>
          <p:nvPr/>
        </p:nvSpPr>
        <p:spPr>
          <a:xfrm>
            <a:off x="247507" y="3889542"/>
            <a:ext cx="292608" cy="29260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63E1A-F645-1E8F-BAFC-E330E28AB19F}"/>
              </a:ext>
            </a:extLst>
          </p:cNvPr>
          <p:cNvSpPr txBox="1"/>
          <p:nvPr/>
        </p:nvSpPr>
        <p:spPr>
          <a:xfrm>
            <a:off x="694638" y="3712680"/>
            <a:ext cx="8201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The shape and regularity of audio is measured in reference to the whole track and simulated or projected with multiple hypothetical grids</a:t>
            </a:r>
          </a:p>
        </p:txBody>
      </p:sp>
    </p:spTree>
    <p:extLst>
      <p:ext uri="{BB962C8B-B14F-4D97-AF65-F5344CB8AC3E}">
        <p14:creationId xmlns:p14="http://schemas.microsoft.com/office/powerpoint/2010/main" val="31446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Beat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8595360" cy="3886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IOI is the raw material for tempo: BPM = 60 / median(IOI)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Defaults Fail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librosa's beat tracker is optimised for produced music with clear percussion.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719072"/>
            <a:ext cx="292608" cy="29260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188720" y="1645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cappella singing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645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onsets, no percussion, tempo drift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67712"/>
            <a:ext cx="292608" cy="29260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188720" y="2194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recordings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2194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noise, variable dynamics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816352"/>
            <a:ext cx="292608" cy="29260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/ spoken word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2743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rhythm, no clear beat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364992"/>
            <a:ext cx="292608" cy="29260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188720" y="3291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/ drone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3291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transients, very slow or no pulse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913632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1188720" y="3840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Non-Western music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1920" y="3840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meter, microtiming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audio doesn't sound like a pop song, you need to adapt.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librosa Gives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645920"/>
          </a:xfrm>
          <a:prstGeom prst="roundRect">
            <a:avLst>
              <a:gd name="adj" fmla="val 5556"/>
            </a:avLst>
          </a:prstGeom>
          <a:solidFill>
            <a:srgbClr val="1E22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05840" y="12801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librosa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y, sr = librosa.load('audio.wav', sr=None, mono=True)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 = librosa.onset.onset_strength(y=y, sr=sr, hop_length=512)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bpm, beats = librosa.beat.beat_track(onset_envelope=env, sr=sr,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hop_length=512, start_bpm=120)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functions with tunable parameters: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onset_strength() 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Spectral flux across mel bands. Params: sr, hop_length, n_fft, aggregate, n_mels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beat_track() 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Dynamic-programming beat sequence. Params: start_bpm, tightness, trim, units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Knob 1: Pre-emphasis Filtering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librosa parameter — you apply it to your audio before feeding it 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1E22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05840" y="1600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librosa.effects.preemphasis(y, coef=0.97)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2228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high frequencies relative to low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consonants ('t', 'k', 's') louder relative to vowels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boundaries become visible as amplitude peaks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56032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2228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02920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&amp; how much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31089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 = 0.95–0.97 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singing with clear consonants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 = 0.85–0.90 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humming or vowel-heavy audio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entirely 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percussive audio (already sharp)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Octave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common failure mode in tempo estimation: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1097280"/>
          </a:xfrm>
          <a:prstGeom prst="roundRect">
            <a:avLst>
              <a:gd name="adj" fmla="val 12500"/>
            </a:avLst>
          </a:prstGeom>
          <a:solidFill>
            <a:srgbClr val="2228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song at 60 BPM or 120 BPM?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mathematically valid. Every beat at 60 BPM is also a beat at 120 BPM — you just skip every other one. Autocorrelation finds both.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8117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strategies to resolve it: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268980"/>
            <a:ext cx="320040" cy="3200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32689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2232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prior (soft bias)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32232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ACF by a Gaussian centred on your expected tempo. Gently discourages the wrong octave without forcing a result.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771900"/>
            <a:ext cx="320040" cy="32004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31520" y="37719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7261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Tactus correction (post-hoc)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37261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estimation, check: is the result closer to 2× the expected? If yes, halve it. Simple and effective as a safety net.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274820"/>
            <a:ext cx="320040" cy="32004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31520" y="42748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2291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Grid-fit comparison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42291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beat grid at BPM and BPM/2. Measure which grid aligns better with actual onset peaks. The better fit wins.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Knob 3: start_bpm &amp; tightness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1E22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05840" y="10972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bpm, beats = librosa.beat.beat_track(onset_envelope=env, sr=sr,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hop_length=512, start_bpm=120, tightness=100)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657600" cy="2560320"/>
          </a:xfrm>
          <a:prstGeom prst="roundRect">
            <a:avLst>
              <a:gd name="adj" fmla="val 5357"/>
            </a:avLst>
          </a:prstGeom>
          <a:solidFill>
            <a:srgbClr val="2228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start_bpm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tempo estimate for dynamic programming.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120 BPM (pop music)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audio: 50–80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audio: 140–180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start_bpm = garbage.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103120"/>
            <a:ext cx="3657600" cy="2560320"/>
          </a:xfrm>
          <a:prstGeom prst="roundRect">
            <a:avLst>
              <a:gd name="adj" fmla="val 5357"/>
            </a:avLst>
          </a:prstGeom>
          <a:solidFill>
            <a:srgbClr val="2228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02920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tightness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6974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beat rigidity. Higher = stricter; lower = flexible.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100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music: 100–400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Rubato/expressive: 20–50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low = chases noise.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Knob 2: Onset Envelope Tuning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1E22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05840" y="114300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= librosa.onset.onset_strength(y=y, sr=sr, hop_length=512)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= librosa.util.normalize(env)             </a:t>
            </a: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scale to [0, 1]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468880" cy="2560320"/>
          </a:xfrm>
          <a:prstGeom prst="roundRect">
            <a:avLst>
              <a:gd name="adj" fmla="val 4444"/>
            </a:avLst>
          </a:prstGeom>
          <a:solidFill>
            <a:srgbClr val="2228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hop_length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ms at 44.1 kHz.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resolution.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= finer but noisier.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fast, 512–1024 slow.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468880" cy="2560320"/>
          </a:xfrm>
          <a:prstGeom prst="roundRect">
            <a:avLst>
              <a:gd name="adj" fmla="val 4444"/>
            </a:avLst>
          </a:prstGeom>
          <a:solidFill>
            <a:srgbClr val="2228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52044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smoothing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834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 over N frames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noise.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3657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3886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for singing.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percussive, more ambient.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286000"/>
            <a:ext cx="2468880" cy="2560320"/>
          </a:xfrm>
          <a:prstGeom prst="roundRect">
            <a:avLst>
              <a:gd name="adj" fmla="val 4444"/>
            </a:avLst>
          </a:prstGeom>
          <a:solidFill>
            <a:srgbClr val="2228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17220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2834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all recordings 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amplitude scale.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3657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3886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 do this.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loud domination.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ACF Estimator with Prior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017520"/>
          </a:xfrm>
          <a:prstGeom prst="roundRect">
            <a:avLst>
              <a:gd name="adj" fmla="val 3030"/>
            </a:avLst>
          </a:prstGeom>
          <a:solidFill>
            <a:srgbClr val="1E22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05840" y="118872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acf_tempo(onset_env, sr, hop, tempo_min, tempo_max, mu, sigma=5):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"""Pick tempo from ACF, biased toward expected range."""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len(onset_env)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acf = [np.dot(onset_env[:N-k], onset_env[k:]) / (N-k)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for k in range(1, N//2)]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bpms = 60 * sr / (hop * np.arange(1, len(acf)+1))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mask = (bpms &gt;= tempo_min) &amp; (bpms &lt;= tempo_max)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Gaussian prior — the key adaptation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 = np.exp(-0.5 * ((bpms[mask] - mu) / sigma)**2)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= acf[mask] * prior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bpms[mask][np.argmax(score)]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this. The two red lines are the entire prior mechanism.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Knob 3: start_bpm &amp; tightness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1E22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05840" y="11887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bpm, beats = librosa.beat.beat_track(onset_envelope=env, sr=sr,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hop_length=512, start_bpm=120, tightness=100)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443750"/>
            <a:ext cx="3657600" cy="2377440"/>
          </a:xfrm>
          <a:prstGeom prst="roundRect">
            <a:avLst>
              <a:gd name="adj" fmla="val 5769"/>
            </a:avLst>
          </a:prstGeom>
          <a:solidFill>
            <a:srgbClr val="2228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start_bpm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tempo estimate for the dynamic programming. The algorithm builds a beat sequence anchored around this value.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120 BPM (pop music)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audio is slow (lullabies, ambient), set this lower (50–80). If fast (EDM, punk), set higher (140–180). A wrong start_bpm can make the tracker drift entirely.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2" y="2443750"/>
            <a:ext cx="3657600" cy="2377440"/>
          </a:xfrm>
          <a:prstGeom prst="roundRect">
            <a:avLst>
              <a:gd name="adj" fmla="val 5769"/>
            </a:avLst>
          </a:prstGeom>
          <a:solidFill>
            <a:srgbClr val="2228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02920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tightness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8803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rigidly beats must follow the expected tempo. Higher = stricter metronome; lower = more flexible.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100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steady music: 100–400 works well. For rubato / expressive performance: lower to 20–50 so the tracker can follow tempo changes. Too low and it chases noise.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Knob 4: Robust BPM from Beat Positions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8595360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356616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1E22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1005840" y="36118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beat_times = librosa.frames_to_time(beat_frames, sr=sr, hop_length=512)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ibis = np.diff(beat_times)              </a:t>
            </a: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inter-beat intervals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robust_bpm = 60.0 / np.median(ibis)     </a:t>
            </a: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median, not mean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80677" y="4652415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lines. Dramatically better for anything with natural tempo variation.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Reference Card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7772400" cy="307238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/ soft audio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/ percussive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pre-emphasis coef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 – 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hop_length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– 1024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– 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smoothing (frames)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–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start_bpm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– 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– 180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tightness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50 (rubato)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– 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ACF prior sigma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– 10 (narrow)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– 30 (broad)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BPM summary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IBI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or median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</a:t>
            </a: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changes that matter most.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How to Know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tuned the parameters. How do you know the output is correct?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09344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31520" y="1609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methods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5544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2–3 estimators on same audio. If they agree, trust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86584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2386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agreement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2331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r, ICC, MAD. ICC &gt; .85 = good. Show in your paper.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63824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31520" y="3163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 by ear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31089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with metronome overlay. Low-tech but catches systematic errors.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41064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31520" y="3941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key effect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0" y="38862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finding hold across all methods? If not, it may be an artefact.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25880" y="1188720"/>
            <a:ext cx="7086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is a foundation, not a finished product. Adapt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1783080"/>
            <a:ext cx="7086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Pre-emphasis is your best friend for vocal audio.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2377440"/>
            <a:ext cx="7086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start_bpm and tightness matter most. Don't leave defaults.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2971800"/>
            <a:ext cx="7086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octave problem is real. Use priors, correction, or both.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3152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3566160"/>
            <a:ext cx="7086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IBI &gt; global BPM for natural tempo variation.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384048" cy="38404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25880" y="4160520"/>
            <a:ext cx="7086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validate. Multiple methods + listen.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1647</Words>
  <Application>Microsoft Office PowerPoint</Application>
  <PresentationFormat>On-screen Show (16:9)</PresentationFormat>
  <Paragraphs>219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Benjamin Rieger</cp:lastModifiedBy>
  <cp:revision>2</cp:revision>
  <dcterms:created xsi:type="dcterms:W3CDTF">2026-06-22T16:10:40Z</dcterms:created>
  <dcterms:modified xsi:type="dcterms:W3CDTF">2026-06-23T08:16:43Z</dcterms:modified>
</cp:coreProperties>
</file>